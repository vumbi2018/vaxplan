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D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multitenant GIS microplanning platform for national immunisation programmes.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4297680"/>
            <a:ext cx="1371600" cy="0"/>
          </a:xfrm>
          <a:prstGeom prst="line">
            <a:avLst/>
          </a:prstGeom>
          <a:noFill/>
          <a:ln w="31750">
            <a:solidFill>
              <a:srgbClr val="1F6F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briefing  · 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5852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vaccination sessions where they're needed — even offline.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challenge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Microplanning is still done on paper.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immunisation programmes lose accuracy, time, and coverage at every step.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54406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606040"/>
            <a:ext cx="73152" cy="155448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78892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population data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populations are recopied each quarter from outdated registers, drifting further from reality with every cycle.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2606040"/>
            <a:ext cx="54406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2606040"/>
            <a:ext cx="73152" cy="155448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278892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spatial picture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3246120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are tables in workbooks. Health workers can't see which villages are far from a facility or which were missed last round.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54406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389120"/>
            <a:ext cx="73152" cy="155448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5720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reporting loops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5029200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 move by photo, email and WhatsApp. District and provincial review rarely closes within the quarter.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4389120"/>
            <a:ext cx="54406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4389120"/>
            <a:ext cx="73152" cy="155448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45720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Offline-blind tools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5029200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dashboards assume connectivity. Field staff in the last mile cannot use them where it matters most.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Vision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 facility. Every quarter.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gives Ministries of Health a shared, map-first workspace for routine immunisation and campaign planning — designed for the realities of the last mile.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26974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11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2960" y="4160520"/>
            <a:ext cx="731520" cy="0"/>
          </a:xfrm>
          <a:prstGeom prst="line">
            <a:avLst/>
          </a:prstGeom>
          <a:noFill/>
          <a:ln w="2286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976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Map-driven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480060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Catchments, villages and sessions on one interactive map.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383280"/>
            <a:ext cx="26974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3611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703320" y="4160520"/>
            <a:ext cx="731520" cy="0"/>
          </a:xfrm>
          <a:prstGeom prst="line">
            <a:avLst/>
          </a:prstGeom>
          <a:noFill/>
          <a:ln w="22860">
            <a:solidFill>
              <a:srgbClr val="1F6F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42976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703320" y="480060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low-connectivity facilities; sync when online.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3383280"/>
            <a:ext cx="26974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611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583680" y="4160520"/>
            <a:ext cx="731520" cy="0"/>
          </a:xfrm>
          <a:prstGeom prst="line">
            <a:avLst/>
          </a:prstGeom>
          <a:noFill/>
          <a:ln w="22860">
            <a:solidFill>
              <a:srgbClr val="1F6F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2976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83680" y="480060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Ministry runs its own tenant with its own data and SSO.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89720" y="3383280"/>
            <a:ext cx="26974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3611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464040" y="4160520"/>
            <a:ext cx="731520" cy="0"/>
          </a:xfrm>
          <a:prstGeom prst="line">
            <a:avLst/>
          </a:prstGeom>
          <a:noFill/>
          <a:ln w="22860">
            <a:solidFill>
              <a:srgbClr val="1F6F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64040" y="42976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464040" y="480060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approvals from facility to national.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Stakeholders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the people who run immunisation.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role sees only what it needs, with permissions and visibility scoped to its level in the health system.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517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clerk / in-charge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69080" y="2788920"/>
            <a:ext cx="0" cy="36576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265176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microplans, run sessions, log defaulters, submit for review.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3832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manager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69080" y="3520440"/>
            <a:ext cx="0" cy="36576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338328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approve facility microplans, monitor coverage by catchment.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1148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Provincial manager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069080" y="4251960"/>
            <a:ext cx="0" cy="36576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0" y="411480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district performance, escalate gaps, allocate supervisory visits.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8463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admin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069080" y="4983480"/>
            <a:ext cx="0" cy="36576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0" y="484632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schedules, tenants, SSO and reporting; approve national plans.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5778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 &amp; partners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069080" y="5715000"/>
            <a:ext cx="0" cy="36576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0" y="557784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visibility into approved plans, coverage and supply needs.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Capabilities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VaxPlan does end to end.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6118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20240"/>
            <a:ext cx="361188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1945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&amp; village registry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278892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records with geo-coordinates, drawn catchments and population.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1920240"/>
            <a:ext cx="36118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1920240"/>
            <a:ext cx="361188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21945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Microplan wizard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17720" y="278892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Ten-step routine and campaign planning, with auto-saved drafts and resumable sessions.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38160" y="1920240"/>
            <a:ext cx="36118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1920240"/>
            <a:ext cx="361188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21945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 requirements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0" y="278892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Per-antigen forecasting against the tenant's full schedule, with wastage factors.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36118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069080"/>
            <a:ext cx="361188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3434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execution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2960" y="493776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Mark-done with per-antigen counts, defaulter capture and offline outbox.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4069080"/>
            <a:ext cx="36118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3400" y="4069080"/>
            <a:ext cx="361188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43434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Supervisory visits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17720" y="493776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visits seeded automatically when a microplan is approved.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38160" y="4069080"/>
            <a:ext cx="36118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8160" y="4069080"/>
            <a:ext cx="361188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1" name="Text 29"/>
          <p:cNvSpPr/>
          <p:nvPr/>
        </p:nvSpPr>
        <p:spPr>
          <a:xfrm>
            <a:off x="8412480" y="43434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&amp; audit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12480" y="493776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review chain, full audit log, cross-tenant write protection.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Map-driven planning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is the plan.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workers draw catchment areas, click a village to start a session, and see live coverage as sessions are reported.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6035040" cy="3566160"/>
          </a:xfrm>
          <a:prstGeom prst="rect">
            <a:avLst/>
          </a:prstGeom>
          <a:solidFill>
            <a:srgbClr val="E9F0FA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926080"/>
            <a:ext cx="2377440" cy="1828800"/>
          </a:xfrm>
          <a:prstGeom prst="ellipse">
            <a:avLst/>
          </a:prstGeom>
          <a:solidFill>
            <a:srgbClr val="BFD6F4">
              <a:alpha val="65000"/>
            </a:srgbClr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3657600"/>
            <a:ext cx="2194560" cy="1737360"/>
          </a:xfrm>
          <a:prstGeom prst="ellipse">
            <a:avLst/>
          </a:prstGeom>
          <a:solidFill>
            <a:srgbClr val="BFD6F4">
              <a:alpha val="65000"/>
            </a:srgbClr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834640"/>
            <a:ext cx="1828800" cy="1371600"/>
          </a:xfrm>
          <a:prstGeom prst="ellipse">
            <a:avLst/>
          </a:prstGeom>
          <a:solidFill>
            <a:srgbClr val="BFD6F4">
              <a:alpha val="65000"/>
            </a:srgbClr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3218688"/>
            <a:ext cx="164592" cy="164592"/>
          </a:xfrm>
          <a:prstGeom prst="ellipse">
            <a:avLst/>
          </a:prstGeom>
          <a:solidFill>
            <a:srgbClr val="B45309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04288" y="3858768"/>
            <a:ext cx="164592" cy="164592"/>
          </a:xfrm>
          <a:prstGeom prst="ellipse">
            <a:avLst/>
          </a:prstGeom>
          <a:solidFill>
            <a:srgbClr val="B45309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0048" y="3127248"/>
            <a:ext cx="164592" cy="164592"/>
          </a:xfrm>
          <a:prstGeom prst="ellipse">
            <a:avLst/>
          </a:prstGeom>
          <a:solidFill>
            <a:srgbClr val="B45309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84448" y="4133088"/>
            <a:ext cx="164592" cy="164592"/>
          </a:xfrm>
          <a:prstGeom prst="ellipse">
            <a:avLst/>
          </a:prstGeom>
          <a:solidFill>
            <a:srgbClr val="B45309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33088" y="3767328"/>
            <a:ext cx="164592" cy="164592"/>
          </a:xfrm>
          <a:prstGeom prst="ellipse">
            <a:avLst/>
          </a:prstGeom>
          <a:solidFill>
            <a:srgbClr val="B45309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3127248"/>
            <a:ext cx="164592" cy="164592"/>
          </a:xfrm>
          <a:prstGeom prst="ellipse">
            <a:avLst/>
          </a:prstGeom>
          <a:solidFill>
            <a:srgbClr val="B45309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38928" y="3950208"/>
            <a:ext cx="164592" cy="164592"/>
          </a:xfrm>
          <a:prstGeom prst="ellipse">
            <a:avLst/>
          </a:prstGeom>
          <a:solidFill>
            <a:srgbClr val="B45309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96128" y="3401568"/>
            <a:ext cx="164592" cy="164592"/>
          </a:xfrm>
          <a:prstGeom prst="ellipse">
            <a:avLst/>
          </a:prstGeom>
          <a:solidFill>
            <a:srgbClr val="B45309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852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 ·  Villages  ·  Sessions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66560" y="2761488"/>
            <a:ext cx="201168" cy="201168"/>
          </a:xfrm>
          <a:prstGeom prst="ellipse">
            <a:avLst/>
          </a:prstGeom>
          <a:solidFill>
            <a:srgbClr val="1F6FEB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0" y="2651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catchment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32320" y="29718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directly on satellite or street base map; area and estimated population auto-computed.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66560" y="3584448"/>
            <a:ext cx="201168" cy="201168"/>
          </a:xfrm>
          <a:prstGeom prst="ellipse">
            <a:avLst/>
          </a:prstGeom>
          <a:solidFill>
            <a:srgbClr val="1F6FEB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0" y="3474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a village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32320" y="37947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village pin to open a prefilled session plan for that location.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66560" y="4407408"/>
            <a:ext cx="201168" cy="201168"/>
          </a:xfrm>
          <a:prstGeom prst="ellipse">
            <a:avLst/>
          </a:prstGeom>
          <a:solidFill>
            <a:srgbClr val="1F6FEB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0" y="4297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coverage live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32320" y="46177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turn from amber to green as facility teams mark them done.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766560" y="5230368"/>
            <a:ext cx="201168" cy="201168"/>
          </a:xfrm>
          <a:prstGeom prst="ellipse">
            <a:avLst/>
          </a:prstGeom>
          <a:solidFill>
            <a:srgbClr val="1F6FEB"/>
          </a:solidFill>
          <a:ln/>
        </p:spPr>
      </p:sp>
      <p:sp>
        <p:nvSpPr>
          <p:cNvPr id="33" name="Text 31"/>
          <p:cNvSpPr/>
          <p:nvPr/>
        </p:nvSpPr>
        <p:spPr>
          <a:xfrm>
            <a:off x="7132320" y="5120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gaps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132320" y="5440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Hard-to-reach scores highlight villages that need outreach this quarter.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Offline-first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last mile.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workers can plan and run sessions for days without connectivity. The platform reconciles everything when they come back online.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10896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400" kern="0" dirty="0">
                <a:solidFill>
                  <a:srgbClr val="DCE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251960"/>
            <a:ext cx="73152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4348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data, schedules and last-quarter coverage cached on the device.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283464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310896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400" kern="0" dirty="0">
                <a:solidFill>
                  <a:srgbClr val="DCE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703320" y="37490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run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703320" y="4251960"/>
            <a:ext cx="73152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4348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Wizard, map and mark-done all work offline; entries queue into an outbox.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283464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10896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400" kern="0" dirty="0">
                <a:solidFill>
                  <a:srgbClr val="DCE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583680" y="37490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583680" y="4251960"/>
            <a:ext cx="73152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44348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reconnect, the outbox replays; unknown antigen codes are preserved, not dropped.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89720" y="283464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310896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400" kern="0" dirty="0">
                <a:solidFill>
                  <a:srgbClr val="DCE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464040" y="37490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64040" y="4251960"/>
            <a:ext cx="73152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64040" y="443484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canonicalises codes, audits stale entries and surfaces warnings to the user.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Multitenant SaaS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many ministries.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tenant gets its own data, identity, vaccine schedule and approval hierarchy. Cross-tenant browsing is read-only, by design.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8892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291840"/>
            <a:ext cx="640080" cy="0"/>
          </a:xfrm>
          <a:prstGeom prst="line">
            <a:avLst/>
          </a:prstGeom>
          <a:noFill/>
          <a:ln w="1778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42900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domain table is tenant-scoped. Writes outside the user's home tenant are rejected by a guard.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260604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78892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SSO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0" y="3291840"/>
            <a:ext cx="640080" cy="0"/>
          </a:xfrm>
          <a:prstGeom prst="line">
            <a:avLst/>
          </a:prstGeom>
          <a:noFill/>
          <a:ln w="17780">
            <a:solidFill>
              <a:srgbClr val="1F6F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42900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and SAML configurations per Ministry; domain-based home-tenant resolution.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260604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66760" y="278892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onboarding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66760" y="3291840"/>
            <a:ext cx="640080" cy="0"/>
          </a:xfrm>
          <a:prstGeom prst="line">
            <a:avLst/>
          </a:prstGeom>
          <a:noFill/>
          <a:ln w="17780">
            <a:solidFill>
              <a:srgbClr val="1F6F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342900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 with hierarchical approval; sandbox tenant available for evaluation.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61772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8006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switcher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" y="5303520"/>
            <a:ext cx="640080" cy="0"/>
          </a:xfrm>
          <a:prstGeom prst="line">
            <a:avLst/>
          </a:prstGeom>
          <a:noFill/>
          <a:ln w="17780">
            <a:solidFill>
              <a:srgbClr val="1F6F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4406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users can view other tenants for coordination, never modify them.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461772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0" y="48006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Tenant-specific schedules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0" y="5303520"/>
            <a:ext cx="640080" cy="0"/>
          </a:xfrm>
          <a:prstGeom prst="line">
            <a:avLst/>
          </a:prstGeom>
          <a:noFill/>
          <a:ln w="1778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54406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 schedules and antigen codes follow each Ministry's national policy.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461772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6760" y="48006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everywhere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66760" y="5303520"/>
            <a:ext cx="640080" cy="0"/>
          </a:xfrm>
          <a:prstGeom prst="line">
            <a:avLst/>
          </a:prstGeom>
          <a:noFill/>
          <a:ln w="17780">
            <a:solidFill>
              <a:srgbClr val="1F6F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66760" y="54406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state change is logged with actor, tenant, before and after values.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Governance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walk the same path as the paper plan.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Microplans, session reports, population data and budgets all share one approval workflow. Reviewers see what changed; rejections roll back side effects.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1920240" cy="914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576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779776" y="3657600"/>
            <a:ext cx="182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971800" y="3657600"/>
            <a:ext cx="1920240" cy="914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36576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28616" y="3657600"/>
            <a:ext cx="182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120640" y="3657600"/>
            <a:ext cx="1920240" cy="914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36576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77456" y="3657600"/>
            <a:ext cx="182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269480" y="3657600"/>
            <a:ext cx="1920240" cy="914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69480" y="36576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26296" y="3657600"/>
            <a:ext cx="182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418320" y="3657600"/>
            <a:ext cx="1920240" cy="914400"/>
          </a:xfrm>
          <a:prstGeom prst="rect">
            <a:avLst/>
          </a:prstGeom>
          <a:solidFill>
            <a:srgbClr val="0F766E"/>
          </a:solidFill>
          <a:ln w="1524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0" y="36576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5029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Side-effect parity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39496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Approving a microplan auto-seeds quarterly supervisory visits. Rejecting it cancels them.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43400" y="5029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authoring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343400" y="539496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facility staff author microplans. District and above are reviewers, never authors.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38160" y="5029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Tenant-scoped review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38160" y="539496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only see requests for their own tenant; cross-tenant submissions are blocked.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Impact metrics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know it's working.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track four families of metrics. Each one is reported per facility, district, province and tenant.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26974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175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52044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antigen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777240" y="4800600"/>
            <a:ext cx="64008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98348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Vaccinated children divided by target population, by quarter.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2743200"/>
            <a:ext cx="26974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0" y="30175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adherence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352044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3600" dirty="0"/>
          </a:p>
        </p:txBody>
      </p:sp>
      <p:sp>
        <p:nvSpPr>
          <p:cNvPr id="18" name="Shape 16"/>
          <p:cNvSpPr/>
          <p:nvPr/>
        </p:nvSpPr>
        <p:spPr>
          <a:xfrm>
            <a:off x="3657600" y="4800600"/>
            <a:ext cx="64008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498348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versus planned, with reasons captured for missed sessions.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2743200"/>
            <a:ext cx="26974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30175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7960" y="352044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Villages</a:t>
            </a:r>
            <a:endParaRPr lang="en-US" sz="3600" dirty="0"/>
          </a:p>
        </p:txBody>
      </p:sp>
      <p:sp>
        <p:nvSpPr>
          <p:cNvPr id="23" name="Shape 21"/>
          <p:cNvSpPr/>
          <p:nvPr/>
        </p:nvSpPr>
        <p:spPr>
          <a:xfrm>
            <a:off x="6537960" y="4800600"/>
            <a:ext cx="64008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498348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registered villages served at least once in the quarter.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89720" y="2743200"/>
            <a:ext cx="26974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8320" y="30175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Defaulters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18320" y="352044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</a:t>
            </a:r>
            <a:endParaRPr lang="en-US" sz="3600" dirty="0"/>
          </a:p>
        </p:txBody>
      </p:sp>
      <p:sp>
        <p:nvSpPr>
          <p:cNvPr id="28" name="Shape 26"/>
          <p:cNvSpPr/>
          <p:nvPr/>
        </p:nvSpPr>
        <p:spPr>
          <a:xfrm>
            <a:off x="9418320" y="4800600"/>
            <a:ext cx="64008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18320" y="498348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with missed doses, surfaced for catch-up planning.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Footprint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country to many.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began as the national microplanning system for Papua New Guinea. The multitenant architecture is now opening it to other Ministries of Health.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108960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703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Papua New Guinea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" y="4297680"/>
            <a:ext cx="73152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48056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rollout in progress; provincial, district and facility tiers active.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29000" y="283464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0" y="3108960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1F6FEB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0" y="3703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Zambia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657600" y="4297680"/>
            <a:ext cx="73152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448056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configured, vaccine schedule loaded, facility registry in import.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83464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3108960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B45309"/>
          </a:solidFill>
          <a:ln/>
        </p:spPr>
      </p:sp>
      <p:sp>
        <p:nvSpPr>
          <p:cNvPr id="24" name="Text 22"/>
          <p:cNvSpPr/>
          <p:nvPr/>
        </p:nvSpPr>
        <p:spPr>
          <a:xfrm>
            <a:off x="653796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37960" y="3703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Sudan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537960" y="4297680"/>
            <a:ext cx="73152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448056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with the Ministry of Health and partner agencies.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89720" y="283464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0" y="3108960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31466B"/>
          </a:solidFill>
          <a:ln/>
        </p:spPr>
      </p:sp>
      <p:sp>
        <p:nvSpPr>
          <p:cNvPr id="30" name="Text 28"/>
          <p:cNvSpPr/>
          <p:nvPr/>
        </p:nvSpPr>
        <p:spPr>
          <a:xfrm>
            <a:off x="9418320" y="3108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418320" y="3703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country next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18320" y="4297680"/>
            <a:ext cx="731520" cy="0"/>
          </a:xfrm>
          <a:prstGeom prst="line">
            <a:avLst/>
          </a:prstGeom>
          <a:noFill/>
          <a:ln w="20320">
            <a:solidFill>
              <a:srgbClr val="1F6F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0" y="448056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signup with sandbox tenant for evaluation.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·  How it's built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modern, defensible stack.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standards, isolated tenants, audited data. Designed for ministries that need confidence in what they deploy.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65176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5176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&amp; web client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069080" y="276148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265176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TypeScript, offline cache, Leaflet maps, mobile-first UI.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29184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29184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business logic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69080" y="340156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329184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and TypeScript, role-aware authorisation, full audit logging.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93192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93192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069080" y="404164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97680" y="393192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with tenant-scoped tables and managed migrations.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57200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57200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069080" y="468172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0" y="457200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OpenID Connect today; per-tenant SAML and OIDC on the multitenant track.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521208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21208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21208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069080" y="532180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97680" y="521208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and official catchments, Turf.js calculations, OpenStreetMap base layer.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585216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7" name="Text 35"/>
          <p:cNvSpPr/>
          <p:nvPr/>
        </p:nvSpPr>
        <p:spPr>
          <a:xfrm>
            <a:off x="822960" y="585216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069080" y="596188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97680" y="585216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Replit, with environment-isolated secrets and one-click deploys.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·  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next.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roadmap, sequenced around what stakeholders have asked for.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370332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43200"/>
            <a:ext cx="3703320" cy="64008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7432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3721608"/>
            <a:ext cx="128016" cy="12801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6118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Multitenant signup and SSO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4407408"/>
            <a:ext cx="128016" cy="12801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2976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 for microplans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093208"/>
            <a:ext cx="128016" cy="12801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Offline-safe mark-done and sync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2743200"/>
            <a:ext cx="370332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34840" y="2743200"/>
            <a:ext cx="3703320" cy="64008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27432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709160" y="3721608"/>
            <a:ext cx="128016" cy="128016"/>
          </a:xfrm>
          <a:prstGeom prst="ellipse">
            <a:avLst/>
          </a:prstGeom>
          <a:solidFill>
            <a:srgbClr val="1F6FEB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6118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apps for Android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09160" y="4407408"/>
            <a:ext cx="128016" cy="128016"/>
          </a:xfrm>
          <a:prstGeom prst="ellipse">
            <a:avLst/>
          </a:prstGeom>
          <a:solidFill>
            <a:srgbClr val="1F6FEB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42976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dashboards per antigen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09160" y="5093208"/>
            <a:ext cx="128016" cy="128016"/>
          </a:xfrm>
          <a:prstGeom prst="ellipse">
            <a:avLst/>
          </a:prstGeom>
          <a:solidFill>
            <a:srgbClr val="1F6FEB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Catch-up planning for defaulters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321040" y="2743200"/>
            <a:ext cx="370332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1040" y="2743200"/>
            <a:ext cx="3703320" cy="640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0" name="Text 28"/>
          <p:cNvSpPr/>
          <p:nvPr/>
        </p:nvSpPr>
        <p:spPr>
          <a:xfrm>
            <a:off x="8595360" y="27432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595360" y="3721608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2" name="Text 30"/>
          <p:cNvSpPr/>
          <p:nvPr/>
        </p:nvSpPr>
        <p:spPr>
          <a:xfrm>
            <a:off x="8823960" y="36118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with DHIS2 and HMIS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595360" y="4407408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4" name="Text 32"/>
          <p:cNvSpPr/>
          <p:nvPr/>
        </p:nvSpPr>
        <p:spPr>
          <a:xfrm>
            <a:off x="8823960" y="42976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and cold-chain linkage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595360" y="5093208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36" name="Text 34"/>
          <p:cNvSpPr/>
          <p:nvPr/>
        </p:nvSpPr>
        <p:spPr>
          <a:xfrm>
            <a:off x="882396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UI and reports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9202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us.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run, fund or support an immunisation programme, we'd like to show you VaxPlan in your own data.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4572000"/>
            <a:ext cx="3520440" cy="1554480"/>
          </a:xfrm>
          <a:prstGeom prst="rect">
            <a:avLst/>
          </a:prstGeom>
          <a:solidFill>
            <a:srgbClr val="12294A"/>
          </a:solidFill>
          <a:ln w="10160">
            <a:solidFill>
              <a:srgbClr val="1F6F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4754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521208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up a sandbox tenant in minutes and import a sample facility list.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4572000"/>
            <a:ext cx="3520440" cy="1554480"/>
          </a:xfrm>
          <a:prstGeom prst="rect">
            <a:avLst/>
          </a:prstGeom>
          <a:solidFill>
            <a:srgbClr val="12294A"/>
          </a:solidFill>
          <a:ln w="10160">
            <a:solidFill>
              <a:srgbClr val="1F6F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4754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521208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province-scale pilot for one quarter, with us alongside your team.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75320" y="4572000"/>
            <a:ext cx="3520440" cy="1554480"/>
          </a:xfrm>
          <a:prstGeom prst="rect">
            <a:avLst/>
          </a:prstGeom>
          <a:solidFill>
            <a:srgbClr val="12294A"/>
          </a:solidFill>
          <a:ln w="10160">
            <a:solidFill>
              <a:srgbClr val="1F6F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49640" y="4754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49640" y="521208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rollout with SSO, training and support handover to your staff.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vaxplan.health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VaxPlan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VaxPlan — Stakeholder Briefing</dc:title>
  <dc:subject>PptxGenJS Presentation</dc:subject>
  <dc:creator>VaxPlan</dc:creator>
  <cp:lastModifiedBy>VaxPlan</cp:lastModifiedBy>
  <cp:revision>1</cp:revision>
  <dcterms:created xsi:type="dcterms:W3CDTF">2026-05-28T14:53:22Z</dcterms:created>
  <dcterms:modified xsi:type="dcterms:W3CDTF">2026-05-28T14:53:22Z</dcterms:modified>
</cp:coreProperties>
</file>