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1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D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multitenant GIS microplanning platform for national immunisation programmes.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371600" cy="0"/>
          </a:xfrm>
          <a:prstGeom prst="line">
            <a:avLst/>
          </a:prstGeom>
          <a:noFill/>
          <a:ln w="31750">
            <a:solidFill>
              <a:srgbClr val="1F6F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343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briefing  · 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5852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vaccination sessions where they're needed — even offline.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Microplanning, finally on a single map.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replaces the paper-and-spreadsheet stack that national EPIs use to plan, deliver and account for every vaccination session — from the national office to the last village.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24688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steps from blank slate to an approved microplan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4688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383280" y="3246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tiers from facility clerk to national administrator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24688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offline-capable: every screen continues to work without a signal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052560" y="24688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052560" y="3246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per Ministry — full data isolation and own SSO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297680"/>
            <a:ext cx="73152" cy="18288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434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now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48463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Coverage gaps and zero-dose children remain concentrated in places no spreadsheet ever named.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Donors and governments are pushing for accountable, georeferenced delivery — not aggregate forms.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Connectivity is improving but is still uneven; tools built only for online dashboards exclude the field.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Microplanning today is invisible work on top of broken data.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compounding failures cost EPIs accuracy, time and coverage at every quarterly cycle.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544068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606040"/>
            <a:ext cx="73152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78892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denominators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populations are recopied each quarter from census tables that are 10+ years old. Targets and dropout rates drift further from reality every cycle.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2606040"/>
            <a:ext cx="544068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2606040"/>
            <a:ext cx="73152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278892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spatial picture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324612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live in Excel rows. Health workers can't see which villages sit beyond 5 km, which were missed last round, or where zero-dose clusters concentrate.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526280"/>
            <a:ext cx="544068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526280"/>
            <a:ext cx="73152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709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reporting loops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 move by photo, email and WhatsApp. District review rarely closes inside the quarter, and provincial roll-ups are reconstructed weeks after the fact.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4526280"/>
            <a:ext cx="544068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4526280"/>
            <a:ext cx="73152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4709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Offline-blind tools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516636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BI dashboards assume connectivity. The facilities that need them most — rural, low-bandwidth, intermittent power — are the ones they fail in.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Vision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 facility. Every quarter.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gives Ministries of Health a shared, map-first workspace for routine immunisation and campaign planning — designed for the realities of the last mile.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26974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383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2960" y="3931920"/>
            <a:ext cx="731520" cy="0"/>
          </a:xfrm>
          <a:prstGeom prst="line">
            <a:avLst/>
          </a:prstGeom>
          <a:noFill/>
          <a:ln w="2286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690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Map-driven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4572000"/>
            <a:ext cx="2240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GRID3 settlement footprints, WorldPop rasters and drawn catchments on one interactive map. Click a village to plan a session there.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29000" y="3154680"/>
            <a:ext cx="26974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3383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703320" y="3931920"/>
            <a:ext cx="731520" cy="0"/>
          </a:xfrm>
          <a:prstGeom prst="line">
            <a:avLst/>
          </a:prstGeom>
          <a:noFill/>
          <a:ln w="22860">
            <a:solidFill>
              <a:srgbClr val="1F6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40690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703320" y="4572000"/>
            <a:ext cx="2240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Dexie/IndexedDB replicates facility, village, client and planning data. A mutation outbox flushes when the device sees a signal again.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3154680"/>
            <a:ext cx="26974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383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583680" y="3931920"/>
            <a:ext cx="731520" cy="0"/>
          </a:xfrm>
          <a:prstGeom prst="line">
            <a:avLst/>
          </a:prstGeom>
          <a:noFill/>
          <a:ln w="22860">
            <a:solidFill>
              <a:srgbClr val="1F6F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0690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83680" y="4572000"/>
            <a:ext cx="2240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Ministry runs its own tenant with its own users, schedule, boundaries and identity provider. Cross-tenant writes are blocked at the API.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89720" y="3154680"/>
            <a:ext cx="26974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3383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464040" y="3931920"/>
            <a:ext cx="731520" cy="0"/>
          </a:xfrm>
          <a:prstGeom prst="line">
            <a:avLst/>
          </a:prstGeom>
          <a:noFill/>
          <a:ln w="22860">
            <a:solidFill>
              <a:srgbClr val="1F6F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64040" y="40690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464040" y="4572000"/>
            <a:ext cx="2240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→ Pending → Approved → Locked, with an immutable audit log on every sensitive change. RED checklists seed automatically on approval.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Product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for the Ministry, recognisable to the field.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tenant gets its own home page, identity provider and country styling — VaxPlan is the platform, the Ministry is the brand.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423160"/>
            <a:ext cx="667512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2"/>
            </a:solidFill>
            <a:prstDash val="solid"/>
          </a:ln>
        </p:spPr>
      </p:sp>
      <p:pic>
        <p:nvPicPr>
          <p:cNvPr id="11" name="Image 0" descr="screenshots/01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68880"/>
            <a:ext cx="6583680" cy="3703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" y="626364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public landing — recognisable promise: "Reach every child. Plan every session."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2468880"/>
            <a:ext cx="429768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2468880"/>
            <a:ext cx="73152" cy="370332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5" name="Text 12"/>
          <p:cNvSpPr/>
          <p:nvPr/>
        </p:nvSpPr>
        <p:spPr>
          <a:xfrm>
            <a:off x="7635240" y="2606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stakeholders see first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635240" y="3017520"/>
            <a:ext cx="393192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Plain promise — no jargon, no acronyms above the fold.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Two paths: existing users sign in, new Ministries request access.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Trust badges call out SSO, data isolation, HIS-friendliness, audit.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Country switcher appears once you're in — the same login lets a regional officer cross approved borders.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Light and dark themes follow OS preferences.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Stakeholders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the five people who run immunisation.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role sees only what it needs. Permissions and visibility are scoped to its level in the health system.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56032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56032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clerk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43400" y="267004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56032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microplans, log sessions, capture per-antigen doses and defaulters, work fully offline.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20040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20040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in-charge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43400" y="331012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320040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microplan for approval, sign off on supervisory visits, manage stock at the facility.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84048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84048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manager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43400" y="395020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384048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approve facility microplans, monitor coverage by catchment, reconcile unmapped antigens.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48056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48056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48056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Provincial coordinator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343400" y="459028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448056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district performance, escalate gaps, allocate supervisory visits across the province.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120640"/>
            <a:ext cx="73152" cy="566928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12064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administrator / GIS specialist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343400" y="523036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280" y="51206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schedules, tenants, SSO and boundaries; approve national plans; full tenant-wide visibility.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576072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5760720"/>
            <a:ext cx="73152" cy="56692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760720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 &amp; partners (read-only)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343400" y="5870448"/>
            <a:ext cx="0" cy="34747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0" y="576072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Audit-grade visibility into approved plans, coverage and supply needs without write access.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Capabilities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modules. One coherent workspace.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solves a real Ministry workflow — not a generic BI tab.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23160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58775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&amp; village registry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" y="30175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Geo-coordinates, drawn catchments, refrigerator and power status.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10712" y="242316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10712" y="2423160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6" name="Text 14"/>
          <p:cNvSpPr/>
          <p:nvPr/>
        </p:nvSpPr>
        <p:spPr>
          <a:xfrm>
            <a:off x="3639312" y="258775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Microplan wizard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39312" y="30175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guided steps for routine and campaigns. Drafts auto-save and resume.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72784" y="242316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423160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258775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 requirements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Per-antigen forecasts against the tenant schedule, with wastage factors.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34856" y="242316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34856" y="2423160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4" name="Text 22"/>
          <p:cNvSpPr/>
          <p:nvPr/>
        </p:nvSpPr>
        <p:spPr>
          <a:xfrm>
            <a:off x="9363456" y="258775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execution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363456" y="30175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Mark-done with per-antigen counts, defaulter capture, offline outbox.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941064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941064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1056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workspace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77240" y="4535424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GRID3 footprints, WorldPop rasters, catchment polygons, defaulter dots.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410712" y="3941064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10712" y="3941064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41056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intelligence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639312" y="4535424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unmapped communities by comparing satellite footprints to the registry.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72784" y="3941064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72784" y="3941064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6" name="Text 34"/>
          <p:cNvSpPr/>
          <p:nvPr/>
        </p:nvSpPr>
        <p:spPr>
          <a:xfrm>
            <a:off x="6501384" y="41056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logbook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01384" y="4535424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immunisation register; track dose histories per child.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134856" y="3941064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34856" y="3941064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40" name="Text 38"/>
          <p:cNvSpPr/>
          <p:nvPr/>
        </p:nvSpPr>
        <p:spPr>
          <a:xfrm>
            <a:off x="9363456" y="41056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Defaulter tracking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363456" y="4535424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Auto-identify missed children, one-click outreach session creation.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48640" y="5458968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458968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56235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ledger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77240" y="6053328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Facility-level inventory with consumption tracking and stock-out alerts.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410712" y="5458968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410712" y="5458968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48" name="Text 46"/>
          <p:cNvSpPr/>
          <p:nvPr/>
        </p:nvSpPr>
        <p:spPr>
          <a:xfrm>
            <a:off x="3639312" y="56235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hub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639312" y="6053328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→ Pending → Approved → Locked, with comments and reason codes.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72784" y="5458968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72784" y="5458968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52" name="Text 50"/>
          <p:cNvSpPr/>
          <p:nvPr/>
        </p:nvSpPr>
        <p:spPr>
          <a:xfrm>
            <a:off x="6501384" y="56235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workspace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6501384" y="6053328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RED checklists auto-seeded for every facility on approval.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9134856" y="5458968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134856" y="5458968"/>
            <a:ext cx="73152" cy="1371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56" name="Text 54"/>
          <p:cNvSpPr/>
          <p:nvPr/>
        </p:nvSpPr>
        <p:spPr>
          <a:xfrm>
            <a:off x="9363456" y="56235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integrations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9363456" y="6053328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Bi-directional adapters for DHIS2 and FHIR R4 (Patient/Immunization).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Day in the life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morning at a Health Post, 90 minutes from the road.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facility clerk's whole day — from prep to submission — without ever leaving VaxPlan.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68880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468880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37360" y="2468880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day on the calendar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74920" y="2560320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57800" y="2468880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Sessions Hub calendar, pick today's date, hit "Plan a session on this day". The form opens with the date already filled.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73552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73552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07:15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37360" y="327355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the bike to the outreach village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364992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3273552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is fully offline. Catchment polygons, household list and last-quarter coverage are already cached on the phone.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078224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078224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078224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737360" y="4078224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74920" y="4169664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4078224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Mark-done captures per-antigen counts (OPV-1, PENTA-2, MR-1...). Defaulters from previous rounds appear automatically as a checklist.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882896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882896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4882896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12:30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737360" y="4882896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unserved households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74920" y="4974336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4882896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unmapped house on the map: VaxPlan offers "Plan a session here" and prefills the outreach form with the right village link.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687568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5687568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5687568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737360" y="5687568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on return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074920" y="5779008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57800" y="5687568"/>
            <a:ext cx="6217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4G range, the outbox flushes. The in-charge receives the day's session ready to review and submit upward.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Quarter in the life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quarter, three altitudes, one chain of accountability.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flows up. Visibility flows down. Both happen inside VaxPlan, in the same week.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6576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68880"/>
            <a:ext cx="3657600" cy="64008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560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3337560"/>
            <a:ext cx="32004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Author or copy-forward last quarter's microplan in the wizard.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Forecast vaccine requirements against the tenant schedule.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Submit to district for review with one tap.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2468880"/>
            <a:ext cx="36576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2468880"/>
            <a:ext cx="3657600" cy="6400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560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/ Province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3337560"/>
            <a:ext cx="32004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Approvals Hub queues every pending plan by facility.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Reviewer compares targets, sessions and supply to last quarter on the map.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Approve, request changes with a reason, or escalate to province.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6576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468880"/>
            <a:ext cx="3657600" cy="640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2560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EPI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12480" y="3337560"/>
            <a:ext cx="32004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National dashboard shows DTP1, DTP1→DTP3 dropout, zero-dose by district.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Supervisory visits with WHO RED checklists are auto-seeded for every approved facility.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Sign off the quarter and push aggregate indicators upstream (DHIS2).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Map-driven planning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is the plan.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workers see catchments, settlements, defaulters and last-quarter coverage on one canvas — and act from it.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54864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 the canvas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01752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Facility points sized by catchment population.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Catchment polygons, drawn by the facility or by GIS specialists.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GRID3 settlement footprints overlaid on OpenStreetMap.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WorldPop population rasters (binary tiles cached for offline).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Defaulter dots — children who missed their last scheduled dose.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Hard-to-reach flags, terrain difficulty, distance-to-facility.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coverage shading recomputed as sessions are reported.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2468880"/>
            <a:ext cx="544068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2468880"/>
            <a:ext cx="73152" cy="370332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from 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0" y="301752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Click any village → "Plan a session here" with the form prefilled.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Click a household icon → reach an unserved family with a single tap.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Draw or redraw a catchment polygon and the recompute pushes targets, schedule and supply in real time.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Pin a calendar day → open the New Session dialog with the date already set.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Filter by quarter, province, district, facility, hard-to-reach status.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Offline-first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airplane mode. Works on a motorbike. Works in the rainforest.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mile is built in from day one, not bolted on after launch.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68880"/>
            <a:ext cx="73152" cy="17373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51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replica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310896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Dexie / IndexedDB stores facilities, villages, clients, microplans and sessions on the device. Every screen reads from local cache first.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246888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2468880"/>
            <a:ext cx="73152" cy="17373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651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outbox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0" y="310896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offline action is queued in an outbox table. The user keeps working; the platform doesn't lose the write if the network drops mid-save.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468880"/>
            <a:ext cx="73152" cy="17373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2651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sync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66760" y="310896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syncEngine flushes outbox via POST /api/sync/batch and pulls server updates via /api/sync/pull. Conflicts resolve by tenant + audit timestamp.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343400"/>
            <a:ext cx="73152" cy="17373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5262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cache v2 &amp; v3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77240" y="498348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GeoJSON and binary GeoTIFF map tiles cache locally, so the map keeps drawing population and settlements without a connection.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434340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43400" y="4343400"/>
            <a:ext cx="73152" cy="17373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45262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antigen handling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72000" y="498348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offline clients can still report unknown vaccine codes. Server stores them under perAntigenUnmapped, audits each occurrence, and surfaces a reconcile screen.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434340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4343400"/>
            <a:ext cx="73152" cy="17373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8366760" y="45262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Resumable wizard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366760" y="498348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microplan wizard auto-saves draft state. Close the tab, lose power, switch device — pick up exactly where you left off.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Schedule integrity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Tenant-owned schedule, no data ever silently dropped.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Ministry runs the antigens it actually uses — and the platform refuses to lose a count, even from an out-of-date client.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54864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vaccine schedule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01752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Each tenant declares its own antigens, doses and intervals.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expandVaccineSchedule(...) auto-generates per-dose records (OPV-1, OPV-2, PENTA-1...).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Codes are canonicalised case- and whitespace-insensitively ("opv-1" → "OPV-1").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Schedule changes flow to every facility in the tenant without a redeploy.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Wastage factors and target ages travel with the antigen, not the spreadsheet.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2468880"/>
            <a:ext cx="544068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2468880"/>
            <a:ext cx="73152" cy="370332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Mark-done with safety net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0" y="301752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Known antigens land under vaccinatedCounts.perAntigen at the canonical code.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Unknown codes (stale clients, mid-flight migrations) go to perAntigenUnmapped.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Both still count toward totals — no field worker's day disappears because their app was a build behind.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Every occurrence writes an audit entry: mark_done_unmapped_antigens.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Response carries an unmappedAntigenCodes array so offline clients warn the user instead of failing silently.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reconcile screen lets district managers map stragglers back into the canonical schedule.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Multitenant &amp; security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many Ministries — strictly isolated.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 is tagged with a tenant. Every cross-tenant write is refused. Every approval is auditable.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68880"/>
            <a:ext cx="73152" cy="1737360"/>
          </a:xfrm>
          <a:prstGeom prst="rect">
            <a:avLst/>
          </a:prstGeom>
          <a:solidFill>
            <a:srgbClr val="174CB6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51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Tenant-scoped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310896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table carries a tenantId. requireTenant middleware filters all reads to the active tenant.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246888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2468880"/>
            <a:ext cx="73152" cy="1737360"/>
          </a:xfrm>
          <a:prstGeom prst="rect">
            <a:avLst/>
          </a:prstGeom>
          <a:solidFill>
            <a:srgbClr val="174CB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651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Cross-tenant write guard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310896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crossTenantWriteGuard rejects writes to any tenant other than the user's home tenant with HTTP 403 — even for superusers exploring another country.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468880"/>
            <a:ext cx="73152" cy="1737360"/>
          </a:xfrm>
          <a:prstGeom prst="rect">
            <a:avLst/>
          </a:prstGeom>
          <a:solidFill>
            <a:srgbClr val="174CB6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2651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Bring-your-own SSO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310896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identity provider configurations support OIDC and SAML. The Ministry's IT team owns the directory; we never see passwords.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343400"/>
            <a:ext cx="73152" cy="1737360"/>
          </a:xfrm>
          <a:prstGeom prst="rect">
            <a:avLst/>
          </a:prstGeom>
          <a:solidFill>
            <a:srgbClr val="174CB6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5262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onboarding with approval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498348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signup workflow: a new request lands with the national administrator for the country, not in a global support queue.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434340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43400" y="4343400"/>
            <a:ext cx="73152" cy="1737360"/>
          </a:xfrm>
          <a:prstGeom prst="rect">
            <a:avLst/>
          </a:prstGeom>
          <a:solidFill>
            <a:srgbClr val="174CB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45262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0" y="498348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logAudit records userId, action, entityType, entityId, oldValue, newValue, IP. Approvals, reassignments and reconciliations are all replayable.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4343400"/>
            <a:ext cx="36118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4343400"/>
            <a:ext cx="73152" cy="1737360"/>
          </a:xfrm>
          <a:prstGeom prst="rect">
            <a:avLst/>
          </a:prstGeom>
          <a:solidFill>
            <a:srgbClr val="174CB6"/>
          </a:solidFill>
          <a:ln/>
        </p:spPr>
      </p:sp>
      <p:sp>
        <p:nvSpPr>
          <p:cNvPr id="32" name="Text 30"/>
          <p:cNvSpPr/>
          <p:nvPr/>
        </p:nvSpPr>
        <p:spPr>
          <a:xfrm>
            <a:off x="8366760" y="45262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switcher, scoped writes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66760" y="4983480"/>
            <a:ext cx="3246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officers can browse other countries (read-only) without leaving their session. Writing requires being in your home tenant.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Interoperability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Plays well with the HIS the Ministry already runs.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is the planning and field layer. It doesn't replace the national HIS — it feeds and consumes it.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32004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88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33756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clerks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In-charges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teams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Defaulter sweeps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0" y="2606040"/>
            <a:ext cx="3931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0" y="2606040"/>
            <a:ext cx="73152" cy="36576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27889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343400" y="333756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Microplans, sessions, supervisory visits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Per-antigen counts and defaulters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Catchment polygons and zero-dose layers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Offline outbox + bi-directional sync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Approvals, comments, audit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12480" y="2606040"/>
            <a:ext cx="32004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41080" y="2788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estate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41080" y="333756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DHIS2 (aggregates, org units)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(Patient, Immunization)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SmartCare / eLMIS / iHRIS via adapter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data warehouse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795528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·  Accountability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 signed. Every visit logged. Every change replayable.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and supervision are first-class workflows, not PDFs in shared folders.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2468880" cy="777240"/>
          </a:xfrm>
          <a:prstGeom prst="rect">
            <a:avLst/>
          </a:prstGeom>
          <a:solidFill>
            <a:srgbClr val="5A6E8E"/>
          </a:solidFill>
          <a:ln w="6350">
            <a:solidFill>
              <a:srgbClr val="5A6E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606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035808" y="2606040"/>
            <a:ext cx="274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291840" y="2606040"/>
            <a:ext cx="2468880" cy="777240"/>
          </a:xfrm>
          <a:prstGeom prst="rect">
            <a:avLst/>
          </a:prstGeom>
          <a:solidFill>
            <a:srgbClr val="B45309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606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779008" y="2606040"/>
            <a:ext cx="274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035040" y="2606040"/>
            <a:ext cx="2468880" cy="777240"/>
          </a:xfrm>
          <a:prstGeom prst="rect">
            <a:avLst/>
          </a:prstGeom>
          <a:solidFill>
            <a:srgbClr val="166534"/>
          </a:solidFill>
          <a:ln w="635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606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22208" y="2606040"/>
            <a:ext cx="274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8778240" y="2606040"/>
            <a:ext cx="2468880" cy="777240"/>
          </a:xfrm>
          <a:prstGeom prst="rect">
            <a:avLst/>
          </a:prstGeom>
          <a:solidFill>
            <a:srgbClr val="174CB6"/>
          </a:solidFill>
          <a:ln w="6350">
            <a:solidFill>
              <a:srgbClr val="174C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2606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54864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703320"/>
            <a:ext cx="73152" cy="246888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840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review chain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20624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Facility clerks/in-charges author; district approves routine; province approves campaigns.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Reviewers can request changes with a reason code that travels back to the author's queue.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Locked plans cannot be edited — only superseded by a new revision with full audit trail.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3703320"/>
            <a:ext cx="54406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703320"/>
            <a:ext cx="73152" cy="24688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840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Auto-seeded supervision (RED)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420624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Approving a microplan automatically seeds a quarterly supervisory visit for every facility in scope.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Each visit is prepopulated with a 12-point WHO Reaching Every District (RED) checklist.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Supervisor scores feed the district dashboard so weak facilities surface in the next cycle.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·  Reporting &amp; analytics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indicators EPI managers are actually asked about.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live off the operational data — not exported, retyped and reconciled a week later.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24688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DTP1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First-contact coverage — proxy for access to immunisation.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4688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DTP1→3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383280" y="3246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Drop-out rate — proxy for system retention quality.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24688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Zero-dose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with no DTP1 by 12 months — the equity headline.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052560" y="24688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MCV1 / MCV2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052560" y="3246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Measles coverage and second-dose follow-through.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363016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73152" cy="20574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297680"/>
            <a:ext cx="3264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scorecards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754880"/>
            <a:ext cx="32644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coverage, DTP3 by facility, missed-community count, sessions held vs planned.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61688" y="4114800"/>
            <a:ext cx="363016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61688" y="4114800"/>
            <a:ext cx="73152" cy="20574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4" name="Text 22"/>
          <p:cNvSpPr/>
          <p:nvPr/>
        </p:nvSpPr>
        <p:spPr>
          <a:xfrm>
            <a:off x="4590288" y="4297680"/>
            <a:ext cx="3264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communities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90288" y="4754880"/>
            <a:ext cx="32644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cross-references GRID3 settlements against held sessions to surface populations the plan missed.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74736" y="4114800"/>
            <a:ext cx="363016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4114800"/>
            <a:ext cx="73152" cy="20574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8" name="Text 26"/>
          <p:cNvSpPr/>
          <p:nvPr/>
        </p:nvSpPr>
        <p:spPr>
          <a:xfrm>
            <a:off x="8403336" y="4297680"/>
            <a:ext cx="3264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realism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403336" y="4754880"/>
            <a:ext cx="326440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vs consumption vs wastage per antigen — flags facilities with persistent stock-out risk.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·  Onboarding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Ministry can request access in under two minutes.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signup with hierarchical approval — no sales gate, no email chain, no spreadsheet of access requests.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423160"/>
            <a:ext cx="667512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2"/>
            </a:solidFill>
            <a:prstDash val="solid"/>
          </a:ln>
        </p:spPr>
      </p:sp>
      <p:pic>
        <p:nvPicPr>
          <p:cNvPr id="11" name="Image 0" descr="screenshots/03-signu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68880"/>
            <a:ext cx="6583680" cy="3703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" y="6263640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request form — country, role, and an optional note to the national admin.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2468880"/>
            <a:ext cx="429768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2468880"/>
            <a:ext cx="73152" cy="370332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5" name="Text 12"/>
          <p:cNvSpPr/>
          <p:nvPr/>
        </p:nvSpPr>
        <p:spPr>
          <a:xfrm>
            <a:off x="7635240" y="2606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approval works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635240" y="3017520"/>
            <a:ext cx="393192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If the Ministry already runs a tenant, the request lands with the country's national administrator.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If not, VaxPlan logs the interest and reaches out about onboarding.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Approvals propagate down — district managers approve facility staff, not headquarters.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Onboarded users sign in via the tenant's chosen identity provider (OIDC / SAML).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Email domains map to tenants, so the country switcher routes them home automatically.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·  Where VaxPlan fits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dashboard — the missing planning layer.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complements DHIS2 and the national HIS; it doesn't compete with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2468880" cy="50292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5146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108960" y="2514600"/>
            <a:ext cx="1920240" cy="50292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2514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/ register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20640" y="2514600"/>
            <a:ext cx="1920240" cy="50292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2514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132320" y="2514600"/>
            <a:ext cx="2377440" cy="50292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/>
          <p:nvPr/>
        </p:nvSpPr>
        <p:spPr>
          <a:xfrm>
            <a:off x="7269480" y="2514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DHIS2 only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601200" y="2514600"/>
            <a:ext cx="2011680" cy="50292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9" name="Text 17"/>
          <p:cNvSpPr/>
          <p:nvPr/>
        </p:nvSpPr>
        <p:spPr>
          <a:xfrm>
            <a:off x="9738360" y="2514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17520"/>
            <a:ext cx="246888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0175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Map-driven catchments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08960" y="3017520"/>
            <a:ext cx="19202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46120" y="30175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20640" y="3017520"/>
            <a:ext cx="19202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57800" y="30175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132320" y="3017520"/>
            <a:ext cx="23774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69480" y="30175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01200" y="3017520"/>
            <a:ext cx="2011680" cy="457200"/>
          </a:xfrm>
          <a:prstGeom prst="rect">
            <a:avLst/>
          </a:prstGeom>
          <a:solidFill>
            <a:srgbClr val="DCE8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38360" y="3017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drawn &amp; GRID3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474720"/>
            <a:ext cx="246888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474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session capture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108960" y="3474720"/>
            <a:ext cx="19202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46120" y="3474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474720"/>
            <a:ext cx="19202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3474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132320" y="3474720"/>
            <a:ext cx="23774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69480" y="34747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601200" y="3474720"/>
            <a:ext cx="2011680" cy="457200"/>
          </a:xfrm>
          <a:prstGeom prst="rect">
            <a:avLst/>
          </a:prstGeom>
          <a:solidFill>
            <a:srgbClr val="DCE8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738360" y="3474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outbox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3931920"/>
            <a:ext cx="246888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3931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Per-antigen forecasting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3931920"/>
            <a:ext cx="19202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46120" y="39319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120640" y="3931920"/>
            <a:ext cx="19202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7800" y="39319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(fragile)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132320" y="3931920"/>
            <a:ext cx="23774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69480" y="39319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601200" y="3931920"/>
            <a:ext cx="2011680" cy="457200"/>
          </a:xfrm>
          <a:prstGeom prst="rect">
            <a:avLst/>
          </a:prstGeom>
          <a:solidFill>
            <a:srgbClr val="DCE8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38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schedule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48640" y="4389120"/>
            <a:ext cx="246888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4389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approvals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108960" y="4389120"/>
            <a:ext cx="19202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46120" y="43891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120640" y="4389120"/>
            <a:ext cx="19202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57800" y="43891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132320" y="4389120"/>
            <a:ext cx="23774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69480" y="4389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plugin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601200" y="4389120"/>
            <a:ext cx="2011680" cy="457200"/>
          </a:xfrm>
          <a:prstGeom prst="rect">
            <a:avLst/>
          </a:prstGeom>
          <a:solidFill>
            <a:srgbClr val="DCE8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38360" y="4389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chain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48640" y="4846320"/>
            <a:ext cx="246888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800" y="4846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supervisory visits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108960" y="4846320"/>
            <a:ext cx="19202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46120" y="48463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120640" y="4846320"/>
            <a:ext cx="19202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257800" y="48463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132320" y="4846320"/>
            <a:ext cx="23774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69480" y="4846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601200" y="4846320"/>
            <a:ext cx="2011680" cy="457200"/>
          </a:xfrm>
          <a:prstGeom prst="rect">
            <a:avLst/>
          </a:prstGeom>
          <a:solidFill>
            <a:srgbClr val="DCE8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738360" y="4846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checklist seeded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48640" y="5303520"/>
            <a:ext cx="246888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5800" y="53035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Multitenant SSO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3108960" y="5303520"/>
            <a:ext cx="19202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46120" y="53035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120640" y="5303520"/>
            <a:ext cx="19202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57800" y="53035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7132320" y="5303520"/>
            <a:ext cx="2377440" cy="457200"/>
          </a:xfrm>
          <a:prstGeom prst="rect">
            <a:avLst/>
          </a:prstGeom>
          <a:solidFill>
            <a:srgbClr val="EEF3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269480" y="53035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instance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9601200" y="5303520"/>
            <a:ext cx="2011680" cy="457200"/>
          </a:xfrm>
          <a:prstGeom prst="rect">
            <a:avLst/>
          </a:prstGeom>
          <a:solidFill>
            <a:srgbClr val="DCE8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738360" y="5303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IdP per tenant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548640" y="5760720"/>
            <a:ext cx="246888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5800" y="5760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on every write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3108960" y="5760720"/>
            <a:ext cx="19202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246120" y="5760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5120640" y="5760720"/>
            <a:ext cx="19202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257800" y="5760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132320" y="5760720"/>
            <a:ext cx="2377440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269480" y="57607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9601200" y="5760720"/>
            <a:ext cx="2011680" cy="457200"/>
          </a:xfrm>
          <a:prstGeom prst="rect">
            <a:avLst/>
          </a:prstGeom>
          <a:solidFill>
            <a:srgbClr val="DCE8FB"/>
          </a:solidFill>
          <a:ln w="3175">
            <a:solidFill>
              <a:srgbClr val="C9D3E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738360" y="5760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log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·  Deployment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in the region. Owned by the Ministry.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deployment shapes, the same product, the same data model.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70332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68880"/>
            <a:ext cx="3703320" cy="59436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51460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cloud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63240" y="2606040"/>
            <a:ext cx="100584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3246120"/>
            <a:ext cx="3246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hosts a dedicated tenant. The Ministry's data lives in a region of its choice (EU, US, Africa). SLA managed by us.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57200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Up in days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We patch &amp; upgrade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Pay per facility per month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2468880"/>
            <a:ext cx="370332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468880"/>
            <a:ext cx="3703320" cy="5943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251460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cloud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903720" y="2606040"/>
            <a:ext cx="100584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17720" y="3246120"/>
            <a:ext cx="3246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into the Ministry's own cloud account (AWS / Azure / GCP) or a national data centre. Same image, Ministry holds keys.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17720" y="457200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Data residency in-country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Ministry IT keeps root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Quarterly upgrade cadence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0" y="2468880"/>
            <a:ext cx="370332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2468880"/>
            <a:ext cx="3703320" cy="59436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4" name="Text 22"/>
          <p:cNvSpPr/>
          <p:nvPr/>
        </p:nvSpPr>
        <p:spPr>
          <a:xfrm>
            <a:off x="8458200" y="251460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0744200" y="2606040"/>
            <a:ext cx="100584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control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58200" y="3246120"/>
            <a:ext cx="3246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Air-gapped national EPI servers. Releases delivered on signed media. Ideal for sensitive deployments and offline pilots.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58200" y="457200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external dependencies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Field devices sync locally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Slower upgrade cycle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·  Pilot 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six-month pilot to a province-wide rollout.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Concrete, measurable milestones — not a multi-year transformation.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68880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46888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– M1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1720" y="2468880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set-up &amp; data load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2560320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468880"/>
            <a:ext cx="5669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up the Ministry's tenant. Load national boundaries, facility registry, GRID3 settlements, WorldPop rasters. Configure SSO and the vaccine schedule.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73552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73552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– M2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331720" y="327355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two pilot districts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0" y="3364992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0" y="3273552"/>
            <a:ext cx="5669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~40 facility clerks and 6 district managers. Activate offline devices. Co-author the first quarterly microplan in the wizard.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078224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078224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078224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– M4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31720" y="4078224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full quarter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4169664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52160" y="4078224"/>
            <a:ext cx="5669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deliver and review one quarter on VaxPlan. Compare coverage, dropout and zero-dose with the previous baseline.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882896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882896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4882896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– M5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331720" y="4882896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evaluation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0" y="4974336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4882896"/>
            <a:ext cx="5669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M&amp;E team reviews coverage, missed communities, supervisory visit completion and user adoption. Publish dashboard to national EPI.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687568"/>
            <a:ext cx="110642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5687568"/>
            <a:ext cx="73152" cy="71323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5687568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– M6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331720" y="5687568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Province-wide rollout decision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669280" y="5779008"/>
            <a:ext cx="0" cy="530352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5687568"/>
            <a:ext cx="5669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by the National EPI Manager. Expand to remaining districts in the pilot province; plan national scale-out for the next fiscal year.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02920" cy="73152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71055" y="274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·  Investment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11535" y="2743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C9D3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VaxPlan  ·  Multitenant GIS Microplanning for National Immunisation Programmes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cost. Proportional to the system, not the licences.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follows the number of facilities served, not seat counts — so adding a clerk never costs a Ministry money.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70332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68880"/>
            <a:ext cx="3703320" cy="77724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5146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292608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 districts · 6 months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3832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77240" y="39776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fee-for-service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389120"/>
            <a:ext cx="32461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Tenant set-up and data load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Training for 40 users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One quarterly cycle supported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Independent evaluation included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9120" y="2468880"/>
            <a:ext cx="370332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2468880"/>
            <a:ext cx="3703320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4617720" y="25146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617720" y="292608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200 facilities · annual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17720" y="33832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617720" y="39776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facility / month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7720" y="4389120"/>
            <a:ext cx="32461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Unlimited users in tenant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Managed or sovereign cloud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9 × 5 support, 1 business day SLA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Quarterly product upgrades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2468880"/>
            <a:ext cx="370332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C9D3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2468880"/>
            <a:ext cx="3703320" cy="7772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8458200" y="25146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458200" y="292608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Country-wide · multi-year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458200" y="33832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8458200" y="39776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facility / month, tiered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58200" y="4389120"/>
            <a:ext cx="32461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On-prem option, signed releases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24 × 7 critical-incident support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Custom HIS adapters (DHIS2, eLMIS)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Joint roadmap with EPI manager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6FE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28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every child.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every session.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68680" y="3931920"/>
            <a:ext cx="1371600" cy="0"/>
          </a:xfrm>
          <a:prstGeom prst="line">
            <a:avLst/>
          </a:prstGeom>
          <a:noFill/>
          <a:ln w="31750">
            <a:solidFill>
              <a:srgbClr val="1F6F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D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a 60-minute working session with your national EPI lead and GIS focal point to scope a pilot province.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9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contact@vaxplan.health  ·  vaxplan.health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VaxPlan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VaxPlan — Stakeholder Briefing</dc:title>
  <dc:subject>PptxGenJS Presentation</dc:subject>
  <dc:creator>VaxPlan</dc:creator>
  <cp:lastModifiedBy>VaxPlan</cp:lastModifiedBy>
  <cp:revision>1</cp:revision>
  <dcterms:created xsi:type="dcterms:W3CDTF">2026-05-28T15:04:48Z</dcterms:created>
  <dcterms:modified xsi:type="dcterms:W3CDTF">2026-05-28T15:04:48Z</dcterms:modified>
</cp:coreProperties>
</file>